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R/vD1xs/UvKAss6Dh8ZfKlpaS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37CC82-B8A1-4D4B-B3CE-DD0BD0FDC5FB}">
  <a:tblStyle styleId="{BE37CC82-B8A1-4D4B-B3CE-DD0BD0FDC5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54864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How Robust Are </a:t>
            </a: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</a:t>
            </a: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Watermarks?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Evaluating Text Watermarking Under Paraphrase Attacks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00400" y="2788920"/>
            <a:ext cx="2743200" cy="18288"/>
          </a:xfrm>
          <a:prstGeom prst="rect">
            <a:avLst/>
          </a:prstGeom>
          <a:solidFill>
            <a:srgbClr val="00B4D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CSGS Hackathon 2026  •  P4: AI Security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Mustafa Ibrahim • </a:t>
            </a: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Muhammad  Rabiu  •  A</a:t>
            </a:r>
            <a:r>
              <a:rPr lang="en-US" sz="13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amr Ibrahim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Science, Old Dominion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March 31,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Why U</a:t>
            </a: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se </a:t>
            </a: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Watermark LLM-Generated Text?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1242528"/>
            <a:ext cx="76809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31520" y="1242528"/>
            <a:ext cx="54900" cy="777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005840" y="1315680"/>
            <a:ext cx="713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Intellectual Property Protection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05840" y="1626576"/>
            <a:ext cx="713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Organizations invest millions training LLMs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watermarks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prove model ownership and trace unauthorized use of outputs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" y="2248368"/>
            <a:ext cx="76809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31520" y="2248368"/>
            <a:ext cx="54900" cy="777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005840" y="2321520"/>
            <a:ext cx="713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Unauthorized Knowledge Distillation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05840" y="2632416"/>
            <a:ext cx="713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Adversaries can train competing models on watermarked API outputs  watermarks enable detection of this IP theft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31520" y="3254208"/>
            <a:ext cx="76809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31520" y="3254208"/>
            <a:ext cx="54900" cy="777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005840" y="3327360"/>
            <a:ext cx="713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Content Authenticity &amp; Integrity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05840" y="3638256"/>
            <a:ext cx="713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Watermarks verify whether text was AI-generated critical for academic integrity, media trust, and regulatory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How KGW Watermarking Works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Kirchenbauer et al., ICML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234440" y="118872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234440" y="1188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48640" y="182880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85800" y="1920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Hash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85800" y="22860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Hash the preceding h tokens to get a position-specific seed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337560" y="118872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3337560" y="1188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651760" y="182880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2788920" y="1920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Split Vocabulary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788920" y="22860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the seed to partition vocab into Green List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and Red 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40680" y="118872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440680" y="1188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754880" y="182880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892040" y="1920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Bias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892040" y="22860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bias </a:t>
            </a: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 green-list token logits during sampling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543800" y="118872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7543800" y="1188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858000" y="182880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995160" y="1920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Detect via Z-test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995160" y="22860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Count green tokens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22960" y="3520440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Key Parameters: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γ = green list fraction (0.25 or 0.5)    |    δ = logit bias strength (1.0 to 4.0)    |    h = context width (1 or 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22960" y="3931920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Higher</a:t>
            </a:r>
            <a:r>
              <a:rPr b="0" i="1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b="0" i="1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= stronger watermark but potential quality loss.  Larger γ = more green tokens but weaker signal per token.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Threat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8640" y="1097280"/>
            <a:ext cx="38404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8840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731520" y="18288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DEFENDER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14400" y="219456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service provider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600"/>
              <a:buFont typeface="Calibri"/>
              <a:buNone/>
            </a:pPr>
            <a:br>
              <a:rPr b="0" i="0" lang="en-US" sz="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Embeds watermark to assert model 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Controls secret key and γ, δ, 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Detects unauthorized output usage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Goal: prove ownership, maintain TPR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754880" y="1097280"/>
            <a:ext cx="38404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4937760" y="18288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ADVERSARY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120640" y="219456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 stripping model 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600"/>
              <a:buFont typeface="Calibri"/>
              <a:buNone/>
            </a:pPr>
            <a:br>
              <a:rPr b="0" i="0" lang="en-US" sz="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Black-box: no key, no detector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Has access to a separate 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Paraphrases to remove IP signal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Goal: claim output as own / distill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Our Approach: Systematic Robustness Evaluation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48640" y="10515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1691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Watermark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Configurations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2423160" y="10972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108960" y="10515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108960" y="1691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937760" y="10972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577840" y="10515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24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577840" y="1691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Robustness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48640" y="24688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Attack Types: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48640" y="288036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48640" y="2880360"/>
            <a:ext cx="45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777240" y="289864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Synonym Substitution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77240" y="308152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WordNet-based word replacement (30%)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48640" y="338328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548640" y="3383280"/>
            <a:ext cx="45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77240" y="34015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Paraphrase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77240" y="358444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Flan-T5 semantic rewriting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48640" y="388620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548640" y="3886200"/>
            <a:ext cx="45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777240" y="390448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Back-Translation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77240" y="408736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 → FR → EN round-trip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8640" y="438912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548640" y="4389120"/>
            <a:ext cx="45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77240" y="44074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Sentence Rewrite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77240" y="459028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Aggressive restructuring via Flan-T5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937760" y="2468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Configurations: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" name="Google Shape;121;p5"/>
          <p:cNvGraphicFramePr/>
          <p:nvPr/>
        </p:nvGraphicFramePr>
        <p:xfrm>
          <a:off x="493776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{BE37CC82-B8A1-4D4B-B3CE-DD0BD0FDC5FB}</a:tableStyleId>
              </a:tblPr>
              <a:tblGrid>
                <a:gridCol w="1371600"/>
                <a:gridCol w="640075"/>
                <a:gridCol w="640075"/>
                <a:gridCol w="457200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γ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moderate_low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moderate_high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moderate_ctx4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strong_ctx4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Result 1: Baseline Detectability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8" y="1005850"/>
            <a:ext cx="42669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5852160" y="1005840"/>
            <a:ext cx="29260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852160" y="1005840"/>
            <a:ext cx="4572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035040" y="10972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All configs achieve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high AUROC without attack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035040" y="16002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Strong config (δ=4.0) reaches near-perfect separation between watermarked and unwatermarked text.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852160" y="2845273"/>
            <a:ext cx="29262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852160" y="2845273"/>
            <a:ext cx="45600" cy="13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6035040" y="2936713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Z-score distributions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show clear separation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035040" y="3439633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Watermarked texts cluster at high z-scores; unwatermarked texts stay near zero.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6" title="fig1_roc_bas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50" y="1055325"/>
            <a:ext cx="3921874" cy="309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Result 2: Robustness Under Attack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27725" y="1005850"/>
            <a:ext cx="5354400" cy="347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6309360" y="10058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309360" y="146304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6309360" y="14630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766560" y="141732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Synonym substitution and back-translation partially degrade detection. Stronger δ resists better.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309360" y="246888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309360" y="2468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766560" y="242316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paraphrase and sentence rewrite reduce output length below detection threshold, yielding 0% detection. This is a dual attack on both signal and text length.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309360" y="347472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309360" y="3474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766560" y="342900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exposes a fundamental limitation: z-score detection requires sufficient token count, and attackers who condense text exploit this dependency.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7" title="heatmap_att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462" y="1031575"/>
            <a:ext cx="5172776" cy="34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Result 3: Security-Utility Tradeoff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911866" y="1304164"/>
            <a:ext cx="3936300" cy="29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758176" y="1304159"/>
            <a:ext cx="2926200" cy="1280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5758176" y="1304159"/>
            <a:ext cx="45600" cy="1280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941056" y="1395599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Stronger δ = More Robust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941056" y="1715639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Higher logit bias creates stronger green-list alignment that survives more editing.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758176" y="2767199"/>
            <a:ext cx="2926200" cy="1280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758176" y="2767199"/>
            <a:ext cx="45600" cy="1280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5941056" y="2858639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But: Higher Perplexity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941056" y="3178679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Strong watermarks push the model away from its natural token distribution, increasing perplexity.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8" title="trade-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191" y="1304164"/>
            <a:ext cx="3609475" cy="28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Defense: Ensemble Detection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47984" y="1152906"/>
            <a:ext cx="5005500" cy="3450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5732533" y="1152905"/>
            <a:ext cx="3117000" cy="350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5915424" y="1290071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It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732525" y="1655825"/>
            <a:ext cx="3117000" cy="27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Ensemble matches single-detector performance across all attacks.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Neither approach detects watermarks when attacks compress text length.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Provides a safety net against future attacks that target specific context widths.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The real gap is text-compressing attacks, not token-shuffling ones.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9" title="ensemble_defen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84" y="1207356"/>
            <a:ext cx="4378699" cy="318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48640" y="1450129"/>
            <a:ext cx="80466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548640" y="1450129"/>
            <a:ext cx="54900" cy="777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822960" y="1523281"/>
            <a:ext cx="749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Watermarks work under benign conditions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822960" y="1834177"/>
            <a:ext cx="749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configurations achieve high AUROC for AI text detection when text is unmodified.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548640" y="2310894"/>
            <a:ext cx="80466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548640" y="2310894"/>
            <a:ext cx="54900" cy="777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822960" y="2384046"/>
            <a:ext cx="749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fundamental tradeoff exists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822960" y="2694942"/>
            <a:ext cx="749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Stronger watermarks resist attacks better but degrade text naturalness. No free lunch.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48640" y="3271014"/>
            <a:ext cx="80466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548640" y="3271014"/>
            <a:ext cx="54900" cy="777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822960" y="3344166"/>
            <a:ext cx="749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Ensemble detection helps but doesn't solve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822960" y="3655062"/>
            <a:ext cx="749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Combining context widths improves robustness, but a determined adversary with LLM access remains a challenge.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4572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 — Questions?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Mustafa Ibrahim • Muhammad  Rabiu  •  Aamr Ibrahim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3200400" y="2423160"/>
            <a:ext cx="2743200" cy="18288"/>
          </a:xfrm>
          <a:prstGeom prst="rect">
            <a:avLst/>
          </a:prstGeom>
          <a:solidFill>
            <a:srgbClr val="00B4D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[1] Kirchenbauer et al. (2023). A Watermark for Large Language Models. ICML 2023.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731520" y="34290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[2] Kirchenbauer et al. (2024). On the Reliability of Watermarks for LLMs. ICLR 2024.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[3] Pan et al. (2024). MarkLLM: An Open-Source Toolkit for LLM Watermarking. EMNLP 2024.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731520" y="406908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[4] No Free Lunch in LLM Watermarking. NeurIPS 2024.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[5] Zhao et al. (2025). Can Watermarks Detect LLM IP Infringement For Free? ICLR 2025.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2026-03-28T23:50:56Z</dcterms:created>
  <dc:creator>Muhammad, Mustafa, Aamar</dc:creator>
</cp:coreProperties>
</file>